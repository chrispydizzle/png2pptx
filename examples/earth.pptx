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04837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fl8ftty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048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96186" y="399429"/>
            <a:ext cx="11750305" cy="317558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79">
                <a:solidFill>
                  <a:srgbClr val="ECEEEF"/>
                </a:solidFill>
                <a:latin typeface="Calibri"/>
              </a:rPr>
              <a:t>THE STRUCTURE OF PLANET EARTH: A CROSS-SECTIONAL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5046" y="1069281"/>
            <a:ext cx="1990945" cy="218321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65">
                <a:solidFill>
                  <a:srgbClr val="E9EBEE"/>
                </a:solidFill>
                <a:latin typeface="Calibri"/>
              </a:rPr>
              <a:t>CRUST (0-100 KM DEPTH)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69348" y="1070876"/>
            <a:ext cx="3498110" cy="188549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4">
                <a:solidFill>
                  <a:srgbClr val="ECEFF2"/>
                </a:solidFill>
                <a:latin typeface="Calibri"/>
              </a:rPr>
              <a:t>LAYER SPECIFICATIONS: TYPICAL RANGES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73139" y="1341120"/>
            <a:ext cx="3432986" cy="436643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34">
                <a:solidFill>
                  <a:srgbClr val="9B9EA1"/>
                </a:solidFill>
                <a:latin typeface="Calibri"/>
              </a:rPr>
              <a:t>LAYER DEPTH RANGE STATE TEMPERATURE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4348" y="1393574"/>
            <a:ext cx="186069" cy="119084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6">
                <a:solidFill>
                  <a:srgbClr val="CFDCB2"/>
                </a:solidFill>
                <a:latin typeface="Calibri"/>
              </a:rPr>
              <a:t>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325" y="1490507"/>
            <a:ext cx="2167712" cy="129008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65">
                <a:solidFill>
                  <a:srgbClr val="DBDCDD"/>
                </a:solidFill>
                <a:latin typeface="Calibri"/>
              </a:rPr>
              <a:t>CONTINENTAL OCEANIC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4279" y="1960112"/>
            <a:ext cx="390745" cy="129008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16">
                <a:solidFill>
                  <a:srgbClr val="EAEDEE"/>
                </a:solidFill>
                <a:latin typeface="Calibri"/>
              </a:rPr>
              <a:t>CRUST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07255" y="1960112"/>
            <a:ext cx="279103" cy="129008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6">
                <a:solidFill>
                  <a:srgbClr val="E0E1E3"/>
                </a:solidFill>
                <a:latin typeface="Calibri"/>
              </a:rPr>
              <a:t>Solid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4697" y="1959049"/>
            <a:ext cx="493084" cy="148854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16">
                <a:solidFill>
                  <a:srgbClr val="E0E2E5"/>
                </a:solidFill>
                <a:latin typeface="Calibri"/>
              </a:rPr>
              <a:t>0- 1,000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54116" y="1969504"/>
            <a:ext cx="204676" cy="119084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6">
                <a:solidFill>
                  <a:srgbClr val="DDE0E3"/>
                </a:solidFill>
                <a:latin typeface="Calibri"/>
              </a:rPr>
              <a:t>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3209" y="2004946"/>
            <a:ext cx="186069" cy="119084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6">
                <a:solidFill>
                  <a:srgbClr val="D2DCB3"/>
                </a:solidFill>
                <a:latin typeface="Calibri"/>
              </a:rPr>
              <a:t>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9976" y="2348909"/>
            <a:ext cx="3451593" cy="148854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5">
                <a:solidFill>
                  <a:srgbClr val="DFE0E3"/>
                </a:solidFill>
                <a:latin typeface="Calibri"/>
              </a:rPr>
              <a:t>MANTLE 100 2,890 Plastic Solid 1,000 3,700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093" y="2625179"/>
            <a:ext cx="2456120" cy="119084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5">
                <a:solidFill>
                  <a:srgbClr val="DDE0E0"/>
                </a:solidFill>
                <a:latin typeface="Calibri"/>
              </a:rPr>
              <a:t>LITHOSPHERE ASTHENOSPHERE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5930" y="2738238"/>
            <a:ext cx="2418906" cy="158779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5">
                <a:solidFill>
                  <a:srgbClr val="D8DADE"/>
                </a:solidFill>
                <a:latin typeface="Calibri"/>
              </a:rPr>
              <a:t>OUTER CORE 2,890 5,150 Liquid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0651" y="2738770"/>
            <a:ext cx="753581" cy="148854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6">
                <a:solidFill>
                  <a:srgbClr val="E7E9ED"/>
                </a:solidFill>
                <a:latin typeface="Calibri"/>
              </a:rPr>
              <a:t>3,700 4,700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953" y="2774211"/>
            <a:ext cx="800100" cy="148854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6">
                <a:solidFill>
                  <a:srgbClr val="E1E1E3"/>
                </a:solidFill>
                <a:latin typeface="Calibri"/>
              </a:rPr>
              <a:t>(Granite, Basalt)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02465" y="2774743"/>
            <a:ext cx="790795" cy="138931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6">
                <a:solidFill>
                  <a:srgbClr val="E0E2E5"/>
                </a:solidFill>
                <a:latin typeface="Calibri"/>
              </a:rPr>
              <a:t>(Granite, Basalt)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5488" y="2917574"/>
            <a:ext cx="288407" cy="119084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6">
                <a:solidFill>
                  <a:srgbClr val="D6DFB9"/>
                </a:solidFill>
                <a:latin typeface="Calibri"/>
              </a:rPr>
              <a:t>2,890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3651" y="3129162"/>
            <a:ext cx="1665324" cy="138931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5">
                <a:solidFill>
                  <a:srgbClr val="E2E2E6"/>
                </a:solidFill>
                <a:latin typeface="Calibri"/>
              </a:rPr>
              <a:t>INNER CORE 5,150 8,371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98395" y="3129693"/>
            <a:ext cx="279103" cy="129008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6">
                <a:solidFill>
                  <a:srgbClr val="E3E6E8"/>
                </a:solidFill>
                <a:latin typeface="Calibri"/>
              </a:rPr>
              <a:t>Solid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71790" y="3128630"/>
            <a:ext cx="762885" cy="148854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5">
                <a:solidFill>
                  <a:srgbClr val="ECEDF1"/>
                </a:solidFill>
                <a:latin typeface="Calibri"/>
              </a:rPr>
              <a:t>4,700 5,400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5046" y="3205184"/>
            <a:ext cx="2409603" cy="208397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95">
                <a:solidFill>
                  <a:srgbClr val="EBEDF0"/>
                </a:solidFill>
                <a:latin typeface="Calibri"/>
              </a:rPr>
              <a:t>MANTLE (100-2,890 KM DEPTH)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1930" y="3537806"/>
            <a:ext cx="260497" cy="119084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>
                <a:solidFill>
                  <a:srgbClr val="B7BB9B"/>
                </a:solidFill>
                <a:latin typeface="Calibri"/>
              </a:rPr>
              <a:t>6,371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12604" y="3554464"/>
            <a:ext cx="921045" cy="138931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16">
                <a:solidFill>
                  <a:srgbClr val="E6E7E9"/>
                </a:solidFill>
                <a:latin typeface="Calibri"/>
              </a:rPr>
              <a:t>UPPER MANTLE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41720" y="3670005"/>
            <a:ext cx="1060597" cy="29771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6">
                <a:solidFill>
                  <a:srgbClr val="CFD2D4"/>
                </a:solidFill>
                <a:latin typeface="Calibri"/>
              </a:rPr>
              <a:t>TRANSITION ZONE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3744" y="3979767"/>
            <a:ext cx="939651" cy="138931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6">
                <a:solidFill>
                  <a:srgbClr val="E0E1E4"/>
                </a:solidFill>
                <a:latin typeface="Calibri"/>
              </a:rPr>
              <a:t>LOWER MANTLE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75906" y="4156976"/>
            <a:ext cx="1628110" cy="138931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6">
                <a:solidFill>
                  <a:srgbClr val="D7DADD"/>
                </a:solidFill>
                <a:latin typeface="Calibri"/>
              </a:rPr>
              <a:t>SILICATE ROCK, PLASTIC SOLID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5046" y="4487117"/>
            <a:ext cx="2902688" cy="426718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65">
                <a:solidFill>
                  <a:srgbClr val="C5CBCA"/>
                </a:solidFill>
                <a:latin typeface="Calibri"/>
              </a:rPr>
              <a:t>OUTER CORE (2,890-5,150 KM DEPTH)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78441" y="4901255"/>
            <a:ext cx="1609503" cy="138931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16">
                <a:solidFill>
                  <a:srgbClr val="E7EAEB"/>
                </a:solidFill>
                <a:latin typeface="Calibri"/>
              </a:rPr>
              <a:t>LIQUID IRON-NICKEL ALLOY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3906" y="5481793"/>
            <a:ext cx="2846867" cy="218321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65">
                <a:solidFill>
                  <a:srgbClr val="E9EBEF"/>
                </a:solidFill>
                <a:latin typeface="Calibri"/>
              </a:rPr>
              <a:t>INNER CORE (5,150-6,371 KM DEPTH)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96162" y="5778441"/>
            <a:ext cx="1562985" cy="138931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16">
                <a:solidFill>
                  <a:srgbClr val="EAEBED"/>
                </a:solidFill>
                <a:latin typeface="Calibri"/>
              </a:rPr>
              <a:t>SOLID IRON-NICKEL ALLOY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81976" y="6424191"/>
            <a:ext cx="3005026" cy="158779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5">
                <a:solidFill>
                  <a:srgbClr val="E2E3E6"/>
                </a:solidFill>
                <a:latin typeface="Calibri"/>
              </a:rPr>
              <a:t>ETCHED BLUEPRINT: SPEC SHEET NO. E-001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